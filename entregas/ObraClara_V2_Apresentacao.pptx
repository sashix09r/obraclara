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dia. A ObraClara é uma microempresa fictícia de remodelações. Vou mostrar como a aplicação controla trabalhos extra, decisões e o orçamento atualizado. O cenário central é uma obra de 8 000 € com uma alteração de 650 €.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problema não é faturar: é controlar o âmbito e a decisão. Um pedido de 650 € pode parecer pequeno, mas sem registo ninguém sabe se foi aprovado, por quem e quando. É isso que a aplicação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Há dois perfis. O colaborador consulta, cria rascunhos e submete; o gestor aprova ou rejeita. A regra central é esta soma: base mais alterações aprovadas. Rascunhos, pendentes e rejeitadas não alteram o valor. O backend verifica o perfil em cada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tem cinco tabelas. Um cliente tem várias obras; uma obra tem várias alterações; cada alteração tem eventos. O histórico é separado e imutável. Os valores são guardados em cêntimos inteiros para não haver erros de arredondamento.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o formulário real. O colaborador indica o trabalho, o custo e a descrição. Pode guardar como rascunho ou submeter. Assim que submete, fica pendente e bloqueado para edição. O orçamento continua nos 8 000 €: um pedido pendente não é uma aprovação.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página de decisão. O gestor vê o custo pedido, a obra e o impacto: hoje 8 000, se aprovar 8 650. A observação é obrigatória ao rejeitar. A decisão é registada com o nome do gestor e a data. Não há segunda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Depois da aprovação, a obra mostra 8 650 €. O histórico tem três eventos: criada, submetida e aprovada. A observação e o nome do gestor ficam visíveis. É esta rastreabilidade que faltava no processo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permissão é verificada no servidor. Um colaborador que construa o pedido à mão recebe 403. As escritas têm CSRF; as consultas são preparadas; a saída é escapada. Corre a suíte de 25 testes e a validação em Apache. O cenário de 8 000 + 650 está coberto.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Também é importante dizer o que fica de fora: pagamentos, faturação certificada, login de clientes, multiempresa. Sobre IA: usei Freebuff na implementação e ChatGPT Plus no planeamento. A situação está declarada e não a apresento como conformidade; há uma pergunta preparada para 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resumo: a ObraClara transforma pedidos dispersos num fluxo com estados, permissões, orçamento exato e histórico. O valor para a empresa é saber sempre quanto custa a obra hoje e porquê. Obrigado — estou disponível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B7DDCB"/>
                </a:solidFill>
                <a:latin typeface="Segoe UI"/>
              </a:rPr>
              <a:t>PROGRAMAÇÃO WEB · 12.º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56692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B7DDCB"/>
                </a:solidFill>
                <a:latin typeface="Segoe UI"/>
              </a:rPr>
              <a:t>2026 /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Georgia"/>
              </a:rPr>
              <a:t>ObraClara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5778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500" b="0" i="0">
                <a:solidFill>
                  <a:srgbClr val="FFFFFF"/>
                </a:solidFill>
                <a:latin typeface="Georgia"/>
              </a:rPr>
              <a:t>Gestão de alterações
e custos 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61188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FE3D8"/>
                </a:solidFill>
                <a:latin typeface="Segoe UI"/>
              </a:rPr>
              <a:t>Um fluxo único para registar, decidir e provar o que mudou numa obra — com o orçamento sempre exato.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7150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B7DDCB"/>
                </a:solidFill>
                <a:latin typeface="Segoe UI"/>
              </a:rPr>
              <a:t>Aluno do 12.º F  ·  29 de outubro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60167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FB3A1"/>
                </a:solidFill>
                <a:latin typeface="Segoe UI"/>
              </a:rPr>
              <a:t>github.com/Sashix09r/ObraClara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25780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painel.png"/>
          <p:cNvPicPr>
            <a:picLocks noChangeAspect="1"/>
          </p:cNvPicPr>
          <p:nvPr/>
        </p:nvPicPr>
        <p:blipFill>
          <a:blip r:embed="rId3"/>
          <a:srcRect b="37281"/>
          <a:stretch>
            <a:fillRect/>
          </a:stretch>
        </p:blipFill>
        <p:spPr>
          <a:xfrm>
            <a:off x="6419088" y="1481328"/>
            <a:ext cx="5129784" cy="3849624"/>
          </a:xfrm>
          <a:prstGeom prst="rect">
            <a:avLst/>
          </a:prstGeom>
          <a:ln w="12700">
            <a:solidFill>
              <a:srgbClr val="D9E5DD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9464040" y="1005840"/>
            <a:ext cx="21488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8632" y="1115568"/>
            <a:ext cx="1819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40" b="1" i="0">
                <a:solidFill>
                  <a:srgbClr val="66786E"/>
                </a:solidFill>
                <a:latin typeface="Segoe UI"/>
              </a:rPr>
              <a:t>ORÇAMENTO ATUALIZADO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8632" y="1280160"/>
            <a:ext cx="1819656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0B3529"/>
                </a:solidFill>
                <a:latin typeface="Georgia"/>
              </a:rPr>
              <a:t>8 650,00 €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507492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DF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5184648"/>
            <a:ext cx="15453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80" b="1" i="0">
                <a:solidFill>
                  <a:srgbClr val="66786E"/>
                </a:solidFill>
                <a:latin typeface="Segoe UI"/>
              </a:rPr>
              <a:t>TESTES AUTOMATIZADOS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5349240"/>
            <a:ext cx="1545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0B3529"/>
                </a:solidFill>
                <a:latin typeface="Georgia"/>
              </a:rPr>
              <a:t>25 /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8FB3A1"/>
                </a:solidFill>
                <a:latin typeface="Segoe UI"/>
              </a:rPr>
              <a:t>DEMONSTRAÇÃO  ·  5 A 8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583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C8763"/>
                </a:solidFill>
                <a:latin typeface="Segoe UI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5669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700" b="0" i="0">
                <a:solidFill>
                  <a:srgbClr val="0B3529"/>
                </a:solidFill>
                <a:latin typeface="Georgia"/>
              </a:rPr>
              <a:t>O orçamento muda.
A memória não.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517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6786E"/>
                </a:solidFill>
                <a:latin typeface="Segoe UI"/>
              </a:rPr>
              <a:t>Durante a obra, o cliente pede trabalhos que não estavam no contrato. Cada pedido tem custo e precisa de uma decisão — mas a informação dispersa-se.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3904487"/>
            <a:ext cx="310896" cy="310896"/>
          </a:xfrm>
          <a:prstGeom prst="ellipse">
            <a:avLst/>
          </a:prstGeom>
          <a:solidFill>
            <a:srgbClr val="1C8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88620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B3529"/>
                </a:solidFill>
                <a:latin typeface="Segoe UI"/>
              </a:rPr>
              <a:t>O pedido chega por mensagem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142232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86E"/>
                </a:solidFill>
                <a:latin typeface="Segoe UI"/>
              </a:rPr>
              <a:t>Sem um registo único, perde-se o âmbito.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4562855"/>
            <a:ext cx="310896" cy="310896"/>
          </a:xfrm>
          <a:prstGeom prst="ellipse">
            <a:avLst/>
          </a:prstGeom>
          <a:solidFill>
            <a:srgbClr val="1C8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544568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B3529"/>
                </a:solidFill>
                <a:latin typeface="Segoe UI"/>
              </a:rPr>
              <a:t>O custo não entra no contrato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80060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86E"/>
                </a:solidFill>
                <a:latin typeface="Segoe UI"/>
              </a:rPr>
              <a:t>O orçamento inicial confunde-se com o atual.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21223"/>
            <a:ext cx="310896" cy="310896"/>
          </a:xfrm>
          <a:prstGeom prst="ellipse">
            <a:avLst/>
          </a:prstGeom>
          <a:solidFill>
            <a:srgbClr val="1C8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202936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B3529"/>
                </a:solidFill>
                <a:latin typeface="Segoe UI"/>
              </a:rPr>
              <a:t>Ninguém sabe quem aprovou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458968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86E"/>
                </a:solidFill>
                <a:latin typeface="Segoe UI"/>
              </a:rPr>
              <a:t>A decisão fica na memória ou num email.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051560"/>
            <a:ext cx="5029200" cy="4800600"/>
          </a:xfrm>
          <a:prstGeom prst="roundRect">
            <a:avLst>
              <a:gd name="adj" fmla="val 5000"/>
            </a:avLst>
          </a:prstGeom>
          <a:solidFill>
            <a:srgbClr val="0B3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4173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B7DDCB"/>
                </a:solidFill>
                <a:latin typeface="Segoe UI"/>
              </a:rPr>
              <a:t>EXEMPLO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874519"/>
            <a:ext cx="42976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Georgia"/>
              </a:rPr>
              <a:t>“Pavimento vinílico
em vez de laminado.”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24612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B7DDCB"/>
                </a:solidFill>
                <a:latin typeface="Georgia"/>
              </a:rPr>
              <a:t>+ 650,00 €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069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Aprovado? Por quem? Quando?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572000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B7D3C4"/>
                </a:solidFill>
                <a:latin typeface="Segoe UI"/>
              </a:rPr>
              <a:t>Sem um registo auditável, o orçamento deixa de ser fiável — e a empresa não consegue explicar o valor final.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55080"/>
            <a:ext cx="10908792" cy="0"/>
          </a:xfrm>
          <a:prstGeom prst="line">
            <a:avLst/>
          </a:prstGeom>
          <a:ln>
            <a:solidFill>
              <a:srgbClr val="D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ObraClara V2 · demonstração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190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583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C8763"/>
                </a:solidFill>
                <a:latin typeface="Segoe UI"/>
              </a:rPr>
              <a:t>UTILIZADORES E REGRA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4864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 i="0">
                <a:solidFill>
                  <a:srgbClr val="0B3529"/>
                </a:solidFill>
                <a:latin typeface="Georgia"/>
              </a:rPr>
              <a:t>Dois perfis.
Uma regra simples.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6786E"/>
                </a:solidFill>
                <a:latin typeface="Segoe UI"/>
              </a:rPr>
              <a:t>O colaborador propõe. O gestor decide. A permissão é verificada no servidor, não apenas no botão.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0B3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B7DDCB"/>
                </a:solidFill>
                <a:latin typeface="Segoe UI"/>
              </a:rPr>
              <a:t>GESTOR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•  Gere clientes e obras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•  Aprova ou rejeita alterações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•  Consulta indicadores e histórico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0632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2918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C8763"/>
                </a:solidFill>
                <a:latin typeface="Segoe UI"/>
              </a:rPr>
              <a:t>COLABORADOR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00">
                <a:solidFill>
                  <a:srgbClr val="17231E"/>
                </a:solidFill>
                <a:latin typeface="Segoe UI"/>
              </a:rPr>
              <a:t>•  Consulta as obras autorizadas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00">
                <a:solidFill>
                  <a:srgbClr val="17231E"/>
                </a:solidFill>
                <a:latin typeface="Segoe UI"/>
              </a:rPr>
              <a:t>•  Cria, edita e submete propostas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00">
                <a:solidFill>
                  <a:srgbClr val="17231E"/>
                </a:solidFill>
                <a:latin typeface="Segoe UI"/>
              </a:rPr>
              <a:t>•  Nunca aprova nem rejeita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30368"/>
            <a:ext cx="10698480" cy="896112"/>
          </a:xfrm>
          <a:prstGeom prst="roundRect">
            <a:avLst>
              <a:gd name="adj" fmla="val 8000"/>
            </a:avLst>
          </a:prstGeom>
          <a:solidFill>
            <a:srgbClr val="DF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413248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 i="0">
                <a:solidFill>
                  <a:srgbClr val="0B3529"/>
                </a:solidFill>
                <a:latin typeface="Georgia"/>
              </a:rPr>
              <a:t>8 000,00 €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80644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66786E"/>
                </a:solidFill>
                <a:latin typeface="Segoe UI"/>
              </a:rPr>
              <a:t>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545896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1C8763"/>
                </a:solidFill>
                <a:latin typeface="Segoe U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5413248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 i="0">
                <a:solidFill>
                  <a:srgbClr val="0B3529"/>
                </a:solidFill>
                <a:latin typeface="Georgia"/>
              </a:rPr>
              <a:t>650,00 €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58064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66786E"/>
                </a:solidFill>
                <a:latin typeface="Segoe UI"/>
              </a:rPr>
              <a:t>alteração aprovada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45896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1C8763"/>
                </a:solidFill>
                <a:latin typeface="Segoe UI"/>
              </a:rPr>
              <a:t>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5413248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0F4A36"/>
                </a:solidFill>
                <a:latin typeface="Georgia"/>
              </a:rPr>
              <a:t>8 650,00 €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5806440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66786E"/>
                </a:solidFill>
                <a:latin typeface="Segoe UI"/>
              </a:rPr>
              <a:t>orçamento atualizado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46811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B3529"/>
                </a:solidFill>
                <a:latin typeface="Segoe UI"/>
              </a:rPr>
              <a:t>Rascunho, pendente e rejeitada não contam.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355080"/>
            <a:ext cx="10908792" cy="0"/>
          </a:xfrm>
          <a:prstGeom prst="line">
            <a:avLst/>
          </a:prstGeom>
          <a:ln>
            <a:solidFill>
              <a:srgbClr val="D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ObraClara V2 · demonstração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190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7DDCB"/>
                </a:solidFill>
                <a:latin typeface="Segoe UI"/>
              </a:rPr>
              <a:t>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Georgia"/>
              </a:rPr>
              <a:t>Cinco tabelas.
Uma história auditável.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4028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7D3C4"/>
                </a:solidFill>
                <a:latin typeface="Segoe UI"/>
              </a:rPr>
              <a:t>SQLite · PDO com consultas preparadas · valores em cêntimos inteiros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78892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103D2E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443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B7DDCB"/>
                </a:solidFill>
                <a:latin typeface="Consola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1012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7822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perfil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278892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103D2E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29443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B7DDCB"/>
                </a:solidFill>
                <a:latin typeface="Consolas"/>
              </a:rPr>
              <a:t>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331012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56616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nome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382219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contacto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407822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ativo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78892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103D2E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29443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B7DDCB"/>
                </a:solidFill>
                <a:latin typeface="Consolas"/>
              </a:rPr>
              <a:t>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31012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356616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cliente_id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82219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base_cents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407822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estado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278892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103D2E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8" y="29443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B7DDCB"/>
                </a:solidFill>
                <a:latin typeface="Consolas"/>
              </a:rPr>
              <a:t>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331012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356616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obra_id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382219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valor_cents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8" y="407822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8" y="4334256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autor_id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91472" y="278892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103D2E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56064" y="29443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B7DDCB"/>
                </a:solidFill>
                <a:latin typeface="Consolas"/>
              </a:rPr>
              <a:t>change_events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31012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6064" y="356616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alteracao_id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6064" y="382219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utilizador_id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6064" y="407822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de → para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4334256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C9DED3"/>
                </a:solidFill>
                <a:latin typeface="Consolas"/>
              </a:rPr>
              <a:t>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559552"/>
            <a:ext cx="800100" cy="329184"/>
          </a:xfrm>
          <a:prstGeom prst="roundRect">
            <a:avLst>
              <a:gd name="adj" fmla="val 20000"/>
            </a:avLst>
          </a:prstGeom>
          <a:solidFill>
            <a:srgbClr val="144736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614416"/>
            <a:ext cx="8001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D7E8E0"/>
                </a:solidFill>
                <a:latin typeface="Segoe UI"/>
              </a:rPr>
              <a:t>PHP 8.3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04188" y="5559552"/>
            <a:ext cx="489204" cy="329184"/>
          </a:xfrm>
          <a:prstGeom prst="roundRect">
            <a:avLst>
              <a:gd name="adj" fmla="val 20000"/>
            </a:avLst>
          </a:prstGeom>
          <a:solidFill>
            <a:srgbClr val="144736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4188" y="5614416"/>
            <a:ext cx="489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D7E8E0"/>
                </a:solidFill>
                <a:latin typeface="Segoe UI"/>
              </a:rPr>
              <a:t>PDO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03120" y="5559552"/>
            <a:ext cx="722376" cy="329184"/>
          </a:xfrm>
          <a:prstGeom prst="roundRect">
            <a:avLst>
              <a:gd name="adj" fmla="val 20000"/>
            </a:avLst>
          </a:prstGeom>
          <a:solidFill>
            <a:srgbClr val="144736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03120" y="5614416"/>
            <a:ext cx="722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D7E8E0"/>
                </a:solidFill>
                <a:latin typeface="Segoe UI"/>
              </a:rPr>
              <a:t>SQLite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35224" y="5559552"/>
            <a:ext cx="1033272" cy="329184"/>
          </a:xfrm>
          <a:prstGeom prst="roundRect">
            <a:avLst>
              <a:gd name="adj" fmla="val 20000"/>
            </a:avLst>
          </a:prstGeom>
          <a:solidFill>
            <a:srgbClr val="144736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35224" y="5614416"/>
            <a:ext cx="10332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D7E8E0"/>
                </a:solidFill>
                <a:latin typeface="Segoe UI"/>
              </a:rPr>
              <a:t>HTML / CSS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78224" y="5559552"/>
            <a:ext cx="1577340" cy="329184"/>
          </a:xfrm>
          <a:prstGeom prst="roundRect">
            <a:avLst>
              <a:gd name="adj" fmla="val 20000"/>
            </a:avLst>
          </a:prstGeom>
          <a:solidFill>
            <a:srgbClr val="144736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78224" y="5614416"/>
            <a:ext cx="15773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D7E8E0"/>
                </a:solidFill>
                <a:latin typeface="Segoe UI"/>
              </a:rPr>
              <a:t>JavaScript mínimo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5292" y="5559552"/>
            <a:ext cx="1266444" cy="329184"/>
          </a:xfrm>
          <a:prstGeom prst="roundRect">
            <a:avLst>
              <a:gd name="adj" fmla="val 20000"/>
            </a:avLst>
          </a:prstGeom>
          <a:solidFill>
            <a:srgbClr val="144736"/>
          </a:solidFill>
          <a:ln w="10160">
            <a:solidFill>
              <a:srgbClr val="2B5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5292" y="5614416"/>
            <a:ext cx="12664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D7E8E0"/>
                </a:solidFill>
                <a:latin typeface="Segoe UI"/>
              </a:rPr>
              <a:t>Sem framework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493776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B7D3C4"/>
                </a:solidFill>
                <a:latin typeface="Segoe UI"/>
              </a:rPr>
              <a:t>1 cliente  →  N obras  →  N alterações  →  N eventos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60167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8FB3A1"/>
                </a:solidFill>
                <a:latin typeface="Segoe UI"/>
              </a:rPr>
              <a:t>Cada decisão grava um evento imutável: autor, data, estado anterior e novo.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" y="6355080"/>
            <a:ext cx="10908792" cy="0"/>
          </a:xfrm>
          <a:prstGeom prst="line">
            <a:avLst/>
          </a:prstGeom>
          <a:ln>
            <a:solidFill>
              <a:srgbClr val="2A5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008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8FB3A1"/>
                </a:solidFill>
                <a:latin typeface="Segoe UI"/>
              </a:rPr>
              <a:t>ObraClara V2 · demonstração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64190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8FB3A1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C8763"/>
                </a:solidFill>
                <a:latin typeface="Segoe UI"/>
              </a:rPr>
              <a:t>COLABORADOR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52120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0B3529"/>
                </a:solidFill>
                <a:latin typeface="Georgia"/>
              </a:rPr>
              <a:t>Propor é fácil.
Decidir não é com ele.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6786E"/>
                </a:solidFill>
                <a:latin typeface="Segoe UI"/>
              </a:rPr>
              <a:t>O colaborador abre a obra, cria a alteração e submete-a. Enquanto está pendente, já não pode editá-la.</a:t>
            </a:r>
          </a:p>
        </p:txBody>
      </p:sp>
      <p:sp>
        <p:nvSpPr>
          <p:cNvPr id="5" name="Oval 4"/>
          <p:cNvSpPr/>
          <p:nvPr/>
        </p:nvSpPr>
        <p:spPr>
          <a:xfrm>
            <a:off x="758952" y="3246120"/>
            <a:ext cx="310896" cy="310896"/>
          </a:xfrm>
          <a:prstGeom prst="ellipse">
            <a:avLst/>
          </a:prstGeom>
          <a:solidFill>
            <a:srgbClr val="1C8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27832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0B3529"/>
                </a:solidFill>
                <a:latin typeface="Segoe UI"/>
              </a:rPr>
              <a:t>Abrir a obra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4023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6786E"/>
                </a:solidFill>
                <a:latin typeface="Segoe UI"/>
              </a:rPr>
              <a:t>Remodelação T3 — Rua das Flores</a:t>
            </a:r>
          </a:p>
        </p:txBody>
      </p:sp>
      <p:sp>
        <p:nvSpPr>
          <p:cNvPr id="8" name="Oval 7"/>
          <p:cNvSpPr/>
          <p:nvPr/>
        </p:nvSpPr>
        <p:spPr>
          <a:xfrm>
            <a:off x="758952" y="3904487"/>
            <a:ext cx="310896" cy="310896"/>
          </a:xfrm>
          <a:prstGeom prst="ellipse">
            <a:avLst/>
          </a:prstGeom>
          <a:solidFill>
            <a:srgbClr val="1C8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86200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0B3529"/>
                </a:solidFill>
                <a:latin typeface="Segoe UI"/>
              </a:rPr>
              <a:t>Nova alteração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33087"/>
            <a:ext cx="4023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6786E"/>
                </a:solidFill>
                <a:latin typeface="Segoe UI"/>
              </a:rPr>
              <a:t>Título, custo e descrição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4562856"/>
            <a:ext cx="310896" cy="310896"/>
          </a:xfrm>
          <a:prstGeom prst="ellipse">
            <a:avLst/>
          </a:prstGeom>
          <a:solidFill>
            <a:srgbClr val="1C8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44568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0B3529"/>
                </a:solidFill>
                <a:latin typeface="Segoe UI"/>
              </a:rPr>
              <a:t>Guardar rascunho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791456"/>
            <a:ext cx="4023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6786E"/>
                </a:solidFill>
                <a:latin typeface="Segoe UI"/>
              </a:rPr>
              <a:t>Ainda não conta para o orçamento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" y="5221224"/>
            <a:ext cx="310896" cy="310896"/>
          </a:xfrm>
          <a:prstGeom prst="ellipse">
            <a:avLst/>
          </a:prstGeom>
          <a:solidFill>
            <a:srgbClr val="1C8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202936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0B3529"/>
                </a:solidFill>
                <a:latin typeface="Segoe UI"/>
              </a:rPr>
              <a:t>Submeter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449824"/>
            <a:ext cx="4023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6786E"/>
                </a:solidFill>
                <a:latin typeface="Segoe UI"/>
              </a:rPr>
              <a:t>Pendente: aguarda o gestor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687568"/>
            <a:ext cx="30632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97296"/>
            <a:ext cx="27340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80" b="1" i="0">
                <a:solidFill>
                  <a:srgbClr val="66786E"/>
                </a:solidFill>
                <a:latin typeface="Segoe UI"/>
              </a:rPr>
              <a:t>ORÇAMENTO ENQUANTO PENDENTE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61888"/>
            <a:ext cx="27340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0B3529"/>
                </a:solidFill>
                <a:latin typeface="Georgia"/>
              </a:rPr>
              <a:t>8 000,00 €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005840"/>
            <a:ext cx="566928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0-nova-alt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468431"/>
            <a:ext cx="5541264" cy="31438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97880" y="5193792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6786E"/>
                </a:solidFill>
                <a:latin typeface="Segoe UI"/>
              </a:rPr>
              <a:t>Formulário real de nova alteração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5468112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66786E"/>
                </a:solidFill>
                <a:latin typeface="Segoe UI"/>
              </a:rPr>
              <a:t>O custo e a descrição ficam registados antes de qualquer decisão.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355080"/>
            <a:ext cx="10908792" cy="0"/>
          </a:xfrm>
          <a:prstGeom prst="line">
            <a:avLst/>
          </a:prstGeom>
          <a:ln>
            <a:solidFill>
              <a:srgbClr val="D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ObraClara V2 · demonstração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190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C8763"/>
                </a:solidFill>
                <a:latin typeface="Segoe UI"/>
              </a:rPr>
              <a:t>GESTOR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 i="0">
                <a:solidFill>
                  <a:srgbClr val="0B3529"/>
                </a:solidFill>
                <a:latin typeface="Georgia"/>
              </a:rPr>
              <a:t>A decisão fica
registada.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286000"/>
            <a:ext cx="4480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6786E"/>
                </a:solidFill>
                <a:latin typeface="Segoe UI"/>
              </a:rPr>
              <a:t>O gestor vê o impacto antes de decidir. Aprovar soma o valor; rejeitar mantém o orçamento. A decisão é final.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246120"/>
            <a:ext cx="44348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383280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66786E"/>
                </a:solidFill>
                <a:latin typeface="Segoe UI"/>
              </a:rPr>
              <a:t>ATUALIZADO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02736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 i="0">
                <a:solidFill>
                  <a:srgbClr val="0B3529"/>
                </a:solidFill>
                <a:latin typeface="Georgia"/>
              </a:rPr>
              <a:t>8 000,00 €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4087368"/>
            <a:ext cx="3977640" cy="0"/>
          </a:xfrm>
          <a:prstGeom prst="line">
            <a:avLst/>
          </a:prstGeom>
          <a:ln>
            <a:solidFill>
              <a:srgbClr val="D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0120" y="420624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1C8763"/>
                </a:solidFill>
                <a:latin typeface="Segoe UI"/>
              </a:rPr>
              <a:t>SE APROVAR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13308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0F4A36"/>
                </a:solidFill>
                <a:latin typeface="Georgia"/>
              </a:rPr>
              <a:t>8 650,00 €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8006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4A36"/>
                </a:solidFill>
                <a:latin typeface="Segoe UI"/>
              </a:rPr>
              <a:t>Aprovar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0749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6786E"/>
                </a:solidFill>
                <a:latin typeface="Segoe UI"/>
              </a:rPr>
              <a:t>O custo passa a contar.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800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B43B2E"/>
                </a:solidFill>
                <a:latin typeface="Segoe UI"/>
              </a:rPr>
              <a:t>Rejeitar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0749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6786E"/>
                </a:solidFill>
                <a:latin typeface="Segoe UI"/>
              </a:rPr>
              <a:t>O orçamento mantém-se.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57784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B3529"/>
                </a:solidFill>
                <a:latin typeface="Segoe UI"/>
              </a:rPr>
              <a:t>Com observação obrigatória ao rejeitar.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1005840"/>
            <a:ext cx="598932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5-decid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1298644"/>
            <a:ext cx="5861304" cy="43064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77840" y="59618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6786E"/>
                </a:solidFill>
                <a:latin typeface="Segoe UI"/>
              </a:rPr>
              <a:t>Ecrã real de decisão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355080"/>
            <a:ext cx="10908792" cy="0"/>
          </a:xfrm>
          <a:prstGeom prst="line">
            <a:avLst/>
          </a:prstGeom>
          <a:ln>
            <a:solidFill>
              <a:srgbClr val="D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ObraClara V2 · demonstração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190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94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7DDCB"/>
                </a:solidFill>
                <a:latin typeface="Segoe UI"/>
              </a:rPr>
              <a:t>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FFFFFF"/>
                </a:solidFill>
                <a:latin typeface="Georgia"/>
              </a:rPr>
              <a:t>O orçamento certo,
com autor 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2316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0" i="0">
                <a:solidFill>
                  <a:srgbClr val="B7DDCB"/>
                </a:solidFill>
                <a:latin typeface="Georgia"/>
              </a:rPr>
              <a:t>8 650,00 €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C9DED3"/>
                </a:solidFill>
                <a:latin typeface="Segoe UI"/>
              </a:rPr>
              <a:t>8 000,00 € de base  +  650,00 € aprovados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  <a:latin typeface="Segoe UI"/>
              </a:rPr>
              <a:t>•  1 alteração aprovada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  <a:latin typeface="Segoe UI"/>
              </a:rPr>
              <a:t>•  3 eventos no histórico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  <a:latin typeface="Segoe UI"/>
              </a:rPr>
              <a:t>•  Decisor: Ana Ferreira · 29/10/2026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07492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8FB3A1"/>
                </a:solidFill>
                <a:latin typeface="Segoe UI"/>
              </a:rPr>
              <a:t>A mesma página mostra o antes, o depois e quem decidiu.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868680"/>
            <a:ext cx="6126480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-obra-86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727" y="941832"/>
            <a:ext cx="5732385" cy="5202936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640080" y="6355080"/>
            <a:ext cx="10908792" cy="0"/>
          </a:xfrm>
          <a:prstGeom prst="line">
            <a:avLst/>
          </a:prstGeom>
          <a:ln>
            <a:solidFill>
              <a:srgbClr val="2A5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8FB3A1"/>
                </a:solidFill>
                <a:latin typeface="Segoe UI"/>
              </a:rPr>
              <a:t>ObraClara V2 · demonstração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190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8FB3A1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C8763"/>
                </a:solidFill>
                <a:latin typeface="Segoe UI"/>
              </a:rPr>
              <a:t>SEGURANÇA E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 i="0">
                <a:solidFill>
                  <a:srgbClr val="0B3529"/>
                </a:solidFill>
                <a:latin typeface="Georgia"/>
              </a:rPr>
              <a:t>A interface não
decide nada.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28600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6786E"/>
                </a:solidFill>
                <a:latin typeface="Segoe UI"/>
              </a:rPr>
              <a:t>Cada pedido é verificado no servidor. O botão escondido é conveniência; a regra está no backend.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246120"/>
            <a:ext cx="25420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74136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0F4A36"/>
                </a:solidFill>
                <a:latin typeface="Segoe UI"/>
              </a:rPr>
              <a:t>CSRF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21284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6786E"/>
                </a:solidFill>
                <a:latin typeface="Segoe UI"/>
              </a:rPr>
              <a:t>Todas as escritas usam POST + token.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3246120"/>
            <a:ext cx="25420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374136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0F4A36"/>
                </a:solidFill>
                <a:latin typeface="Segoe UI"/>
              </a:rPr>
              <a:t>403 no 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657600"/>
            <a:ext cx="221284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6786E"/>
                </a:solidFill>
                <a:latin typeface="Segoe UI"/>
              </a:rPr>
              <a:t>Colaborador não aprova, mesmo à mão.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361688"/>
            <a:ext cx="25420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9703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0F4A36"/>
                </a:solidFill>
                <a:latin typeface="Segoe UI"/>
              </a:rPr>
              <a:t>PDO preparado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221284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6786E"/>
                </a:solidFill>
                <a:latin typeface="Segoe UI"/>
              </a:rPr>
              <a:t>Consultas parametrizadas e escape de saída.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4361688"/>
            <a:ext cx="25420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489703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0F4A36"/>
                </a:solidFill>
                <a:latin typeface="Segoe UI"/>
              </a:rPr>
              <a:t>Hash + sessão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73168"/>
            <a:ext cx="221284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6786E"/>
                </a:solidFill>
                <a:latin typeface="Segoe UI"/>
              </a:rPr>
              <a:t>password_hash e sessão regenerada no login.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005840"/>
            <a:ext cx="5029200" cy="4892040"/>
          </a:xfrm>
          <a:prstGeom prst="roundRect">
            <a:avLst>
              <a:gd name="adj" fmla="val 5000"/>
            </a:avLst>
          </a:prstGeom>
          <a:solidFill>
            <a:srgbClr val="0B3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2801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B7DDCB"/>
                </a:solidFill>
                <a:latin typeface="Segoe UI"/>
              </a:rPr>
              <a:t>PROVAS EXECUTADAS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69164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Georgia"/>
              </a:rPr>
              <a:t>25 / 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3172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C9DED3"/>
                </a:solidFill>
                <a:latin typeface="Segoe UI"/>
              </a:rPr>
              <a:t>testes automatizados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5292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B7DDCB"/>
                </a:solidFill>
                <a:latin typeface="Georgia"/>
              </a:rPr>
              <a:t>15 /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832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C9DED3"/>
                </a:solidFill>
                <a:latin typeface="Segoe UI"/>
              </a:rPr>
              <a:t>verificações em Apache/Laragon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977639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403 · 419 · 422 · 404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2976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8FB3A1"/>
                </a:solidFill>
                <a:latin typeface="Segoe UI"/>
              </a:rPr>
              <a:t>permissões, CSRF, validação, recurso inexistente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983480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O cenário 8 000 + 650 = 8 650 está coberto e passou.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08792" cy="0"/>
          </a:xfrm>
          <a:prstGeom prst="line">
            <a:avLst/>
          </a:prstGeom>
          <a:ln>
            <a:solidFill>
              <a:srgbClr val="D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ObraClara V2 · demonstração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190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C8763"/>
                </a:solidFill>
                <a:latin typeface="Segoe UI"/>
              </a:rPr>
              <a:t>LIMITES E TRANSPARÊNCIA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5669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0B3529"/>
                </a:solidFill>
                <a:latin typeface="Georgia"/>
              </a:rPr>
              <a:t>O que fica de fora.
O que não escondo.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4A36"/>
                </a:solidFill>
                <a:latin typeface="Segoe UI"/>
              </a:rPr>
              <a:t>Fora do âmbito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97480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7231E"/>
                </a:solidFill>
                <a:latin typeface="Segoe UI"/>
              </a:rPr>
              <a:t>•  Pagamentos e faturação certificada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7231E"/>
                </a:solidFill>
                <a:latin typeface="Segoe UI"/>
              </a:rPr>
              <a:t>•  Assinatura digital do cliente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7231E"/>
                </a:solidFill>
                <a:latin typeface="Segoe UI"/>
              </a:rPr>
              <a:t>•  Login de clientes e multiempresa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7231E"/>
                </a:solidFill>
                <a:latin typeface="Segoe UI"/>
              </a:rPr>
              <a:t>•  Aplicação móvel nativa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43484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66786E"/>
                </a:solidFill>
                <a:latin typeface="Segoe UI"/>
              </a:rPr>
              <a:t>É uma ferramenta interna, local, para uma empresa e poucos utilizadores.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960120"/>
            <a:ext cx="6400800" cy="4937760"/>
          </a:xfrm>
          <a:prstGeom prst="roundRect">
            <a:avLst>
              <a:gd name="adj" fmla="val 5000"/>
            </a:avLst>
          </a:prstGeom>
          <a:solidFill>
            <a:srgbClr val="0B3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23444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B7DDCB"/>
                </a:solidFill>
                <a:latin typeface="Segoe UI"/>
              </a:rPr>
              <a:t>USO DE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8112" y="160020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Georgia"/>
              </a:rPr>
              <a:t>Transparência, não uma promessa.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240280"/>
            <a:ext cx="5623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>
                <a:solidFill>
                  <a:srgbClr val="D7E8E0"/>
                </a:solidFill>
                <a:latin typeface="Segoe UI"/>
              </a:rPr>
              <a:t>•  Freebuff Desktop na implementação; modelo e custo não visíveis.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>
                <a:solidFill>
                  <a:srgbClr val="D7E8E0"/>
                </a:solidFill>
                <a:latin typeface="Segoe UI"/>
              </a:rPr>
              <a:t>•  ChatGPT Plus no planeamento — situação declarada.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>
                <a:solidFill>
                  <a:srgbClr val="D7E8E0"/>
                </a:solidFill>
                <a:latin typeface="Segoe UI"/>
              </a:rPr>
              <a:t>•  Protótipo anterior com ajuda paga, não reutilizado na V2.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>
                <a:solidFill>
                  <a:srgbClr val="D7E8E0"/>
                </a:solidFill>
                <a:latin typeface="Segoe UI"/>
              </a:rPr>
              <a:t>•  Pergunta preparada para o professor; não declaro conformidade.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>
                <a:solidFill>
                  <a:srgbClr val="D7E8E0"/>
                </a:solidFill>
                <a:latin typeface="Segoe UI"/>
              </a:rPr>
              <a:t>•  A aplicação não usa IA em execução.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349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1">
                <a:solidFill>
                  <a:srgbClr val="8FB3A1"/>
                </a:solidFill>
                <a:latin typeface="Segoe UI"/>
              </a:rPr>
              <a:t>Os detalhes estão no relatório e no registo de IA.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355080"/>
            <a:ext cx="10908792" cy="0"/>
          </a:xfrm>
          <a:prstGeom prst="line">
            <a:avLst/>
          </a:prstGeom>
          <a:ln>
            <a:solidFill>
              <a:srgbClr val="D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ObraClara V2 · demonstração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190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6786E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972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B7DDCB"/>
                </a:solidFill>
                <a:latin typeface="Segoe UI"/>
              </a:rPr>
              <a:t>EM 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583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Saber sempre
quanto custa a obra
hoje — e porquê.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4023360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C9DED3"/>
                </a:solidFill>
                <a:latin typeface="Segoe UI"/>
              </a:rPr>
              <a:t>ObraClara V2 transforma pedidos dispersos num fluxo com estados, permissões, orçamento exato e histórico.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566160" cy="18288"/>
          </a:xfrm>
          <a:prstGeom prst="roundRect">
            <a:avLst>
              <a:gd name="adj" fmla="val 6000"/>
            </a:avLst>
          </a:prstGeom>
          <a:solidFill>
            <a:srgbClr val="2A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8FB3A1"/>
                </a:solidFill>
                <a:latin typeface="Segoe UI"/>
              </a:rPr>
              <a:t>APLICAÇÃO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9202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localhost:8000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468880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8FB3A1"/>
                </a:solidFill>
                <a:latin typeface="Segoe UI"/>
              </a:rPr>
              <a:t>REPOSITÓRIO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74320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Sashix09r / ObraClara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06324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8FB3A1"/>
                </a:solidFill>
                <a:latin typeface="Segoe UI"/>
              </a:rPr>
              <a:t>branch ai/obraclara-v2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949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1">
                <a:solidFill>
                  <a:srgbClr val="FFFFFF"/>
                </a:solidFill>
                <a:latin typeface="Georgia"/>
              </a:rPr>
              <a:t>Obrigado.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989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8FB3A1"/>
                </a:solidFill>
                <a:latin typeface="Segoe UI"/>
              </a:rPr>
              <a:t>Perguntas?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355080"/>
            <a:ext cx="10908792" cy="0"/>
          </a:xfrm>
          <a:prstGeom prst="line">
            <a:avLst/>
          </a:prstGeom>
          <a:ln>
            <a:solidFill>
              <a:srgbClr val="2A5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8FB3A1"/>
                </a:solidFill>
                <a:latin typeface="Segoe UI"/>
              </a:rPr>
              <a:t>ObraClara V2 · demonstração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190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8FB3A1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ObraClara V2 — Apresentação do projeto</dc:title>
  <dc:subject>Projeto de Programação Web — ObraClara V2</dc:subject>
  <dc:creator>Aluno do 12.º F</dc:creator>
  <cp:keywords>ObraClara; PHP; SQLite; gestão de obras; alterações; orçamento</cp:keywords>
  <dc:description>Dez diapositivos, com notas do orador. Capturas reais da aplicação.</dc:description>
  <cp:lastModifiedBy>ObraClara V2</cp:lastModifiedBy>
  <cp:revision>2</cp:revision>
  <dcterms:created xsi:type="dcterms:W3CDTF">2026-10-29T12:00:00Z</dcterms:created>
  <dcterms:modified xsi:type="dcterms:W3CDTF">2026-10-29T12:16:00Z</dcterms:modified>
  <cp:category>Projeto escolar</cp:category>
</cp:coreProperties>
</file>